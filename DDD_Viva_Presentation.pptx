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4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Sales (₹L)</c:v>
                </c:pt>
              </c:strCache>
            </c:strRef>
          </c:tx>
          <c:spPr>
            <a:solidFill>
              <a:srgbClr val="00C6A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Q1'24</c:v>
                </c:pt>
                <c:pt idx="1">
                  <c:v>Q2'24</c:v>
                </c:pt>
                <c:pt idx="2">
                  <c:v>Q3'24</c:v>
                </c:pt>
                <c:pt idx="3">
                  <c:v>Q4'24</c:v>
                </c:pt>
                <c:pt idx="4">
                  <c:v>Q1'25</c:v>
                </c:pt>
                <c:pt idx="5">
                  <c:v>Q2'25</c:v>
                </c:pt>
                <c:pt idx="6">
                  <c:v>Q3'25</c:v>
                </c:pt>
                <c:pt idx="7">
                  <c:v>Q4'25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67.25</c:v>
                </c:pt>
                <c:pt idx="1">
                  <c:v>84.73</c:v>
                </c:pt>
                <c:pt idx="2">
                  <c:v>68.73</c:v>
                </c:pt>
                <c:pt idx="3">
                  <c:v>97.76</c:v>
                </c:pt>
                <c:pt idx="4">
                  <c:v>76.61</c:v>
                </c:pt>
                <c:pt idx="5">
                  <c:v>94.98</c:v>
                </c:pt>
                <c:pt idx="6">
                  <c:v>78.41</c:v>
                </c:pt>
                <c:pt idx="7">
                  <c:v>119.21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36-4999-A11A-70CFF765BEB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B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1E2E4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B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2032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6203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SBU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C6A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A70-48EF-9A63-305CCACE53C1}"/>
              </c:ext>
            </c:extLst>
          </c:dPt>
          <c:dPt>
            <c:idx val="1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A70-48EF-9A63-305CCACE53C1}"/>
              </c:ext>
            </c:extLst>
          </c:dPt>
          <c:dPt>
            <c:idx val="2"/>
            <c:bubble3D val="0"/>
            <c:spPr>
              <a:solidFill>
                <a:srgbClr val="4A90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A70-48EF-9A63-305CCACE53C1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A70-48EF-9A63-305CCACE53C1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A70-48EF-9A63-305CCACE53C1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A70-48EF-9A63-305CCACE53C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Personal Care</c:v>
                </c:pt>
                <c:pt idx="1">
                  <c:v>Home Care</c:v>
                </c:pt>
                <c:pt idx="2">
                  <c:v>Home Essentials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83.5</c:v>
                </c:pt>
                <c:pt idx="1">
                  <c:v>12</c:v>
                </c:pt>
                <c:pt idx="2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A70-48EF-9A63-305CCACE53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8A9BB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62032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Tier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C6A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1AC-4296-847E-BA4ABE2FDB7E}"/>
              </c:ext>
            </c:extLst>
          </c:dPt>
          <c:dPt>
            <c:idx val="1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1AC-4296-847E-BA4ABE2FDB7E}"/>
              </c:ext>
            </c:extLst>
          </c:dPt>
          <c:dPt>
            <c:idx val="2"/>
            <c:bubble3D val="0"/>
            <c:spPr>
              <a:solidFill>
                <a:srgbClr val="E84C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1AC-4296-847E-BA4ABE2FDB7E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81AC-4296-847E-BA4ABE2FDB7E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81AC-4296-847E-BA4ABE2FDB7E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5-81AC-4296-847E-BA4ABE2FDB7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Tier 1</c:v>
                </c:pt>
                <c:pt idx="1">
                  <c:v>Tier 2</c:v>
                </c:pt>
                <c:pt idx="2">
                  <c:v>Tier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</c:v>
                </c:pt>
                <c:pt idx="1">
                  <c:v>35</c:v>
                </c:pt>
                <c:pt idx="2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1AC-4296-847E-BA4ABE2FDB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8A9BB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62032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SKUs</c:v>
                </c:pt>
              </c:strCache>
            </c:strRef>
          </c:tx>
          <c:spPr>
            <a:solidFill>
              <a:srgbClr val="00C6A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8C1-4A52-8563-EFCC0708D88E}"/>
              </c:ext>
            </c:extLst>
          </c:dPt>
          <c:dPt>
            <c:idx val="1"/>
            <c:invertIfNegative val="0"/>
            <c:bubble3D val="0"/>
            <c:spPr>
              <a:solidFill>
                <a:srgbClr val="E84C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8C1-4A52-8563-EFCC0708D88E}"/>
              </c:ext>
            </c:extLst>
          </c:dPt>
          <c:dPt>
            <c:idx val="2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8C1-4A52-8563-EFCC0708D88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Adequate</c:v>
                </c:pt>
                <c:pt idx="1">
                  <c:v>Critical</c:v>
                </c:pt>
                <c:pt idx="2">
                  <c:v>Low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9186</c:v>
                </c:pt>
                <c:pt idx="1">
                  <c:v>933</c:v>
                </c:pt>
                <c:pt idx="2">
                  <c:v>681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8C1-4A52-8563-EFCC0708D88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B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6350" cap="flat">
              <a:solidFill>
                <a:srgbClr val="1E2E4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B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2032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6203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36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6A7"/>
          </a:solidFill>
          <a:ln w="12700">
            <a:solidFill>
              <a:srgbClr val="00C6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52160" y="731520"/>
            <a:ext cx="3291840" cy="384048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0" y="731520"/>
            <a:ext cx="3291840" cy="54864"/>
          </a:xfrm>
          <a:prstGeom prst="rect">
            <a:avLst/>
          </a:prstGeom>
          <a:solidFill>
            <a:srgbClr val="00C6A7"/>
          </a:solidFill>
          <a:ln w="12700">
            <a:solidFill>
              <a:srgbClr val="00C6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0080"/>
            <a:ext cx="5212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Distributor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Detailing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C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VIVA PRESENTATION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639312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Inventory Intelligence  |  FY 2024–2025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35040" y="10058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0C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035040" y="1261872"/>
            <a:ext cx="2926080" cy="5486"/>
          </a:xfrm>
          <a:prstGeom prst="rect">
            <a:avLst/>
          </a:prstGeom>
          <a:solidFill>
            <a:srgbClr val="1E2E45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1371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19,528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69480" y="14173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35040" y="1920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269480" y="19659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35040" y="2468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Zones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269480" y="25146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· South · West · Central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35040" y="3017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269480" y="30632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35040" y="35661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 Months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269480" y="36118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2024 – Dec 2025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73659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Academic Evaluation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E84C6E"/>
          </a:solidFill>
          <a:ln w="12700">
            <a:solidFill>
              <a:srgbClr val="E84C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4928616"/>
            <a:ext cx="8321040" cy="4572"/>
          </a:xfrm>
          <a:prstGeom prst="rect">
            <a:avLst/>
          </a:prstGeom>
          <a:solidFill>
            <a:srgbClr val="1E2E45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946904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 Detailing Dashboard  |  CP1 Viva Presentation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292608"/>
            <a:ext cx="73152" cy="73152"/>
          </a:xfrm>
          <a:prstGeom prst="rect">
            <a:avLst/>
          </a:prstGeom>
          <a:solidFill>
            <a:srgbClr val="E84C6E"/>
          </a:solidFill>
          <a:ln w="12700">
            <a:solidFill>
              <a:srgbClr val="E84C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2468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E84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530352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Dashboard Was Built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412480" y="2468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" y="1481328"/>
            <a:ext cx="3931920" cy="256032"/>
          </a:xfrm>
          <a:prstGeom prst="rect">
            <a:avLst/>
          </a:prstGeom>
          <a:solidFill>
            <a:srgbClr val="E84C6E"/>
          </a:solidFill>
          <a:ln w="12700">
            <a:solidFill>
              <a:srgbClr val="E84C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49961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1737360"/>
            <a:ext cx="3931920" cy="987552"/>
          </a:xfrm>
          <a:prstGeom prst="rect">
            <a:avLst/>
          </a:prstGeom>
          <a:solidFill>
            <a:srgbClr val="162032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792224"/>
            <a:ext cx="3657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Sales Executives managing FMCG distributors across Tamil Nadu relied on disconnected Excel reports and manual monthly reviews — making it difficult to monitor business performance effectively and act on time.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26280" y="1481328"/>
            <a:ext cx="2240280" cy="768096"/>
          </a:xfrm>
          <a:prstGeom prst="rect">
            <a:avLst/>
          </a:prstGeom>
          <a:solidFill>
            <a:srgbClr val="162032"/>
          </a:solidFill>
          <a:ln w="12700">
            <a:solidFill>
              <a:srgbClr val="E84C6E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26280" y="1481328"/>
            <a:ext cx="45720" cy="768096"/>
          </a:xfrm>
          <a:prstGeom prst="rect">
            <a:avLst/>
          </a:prstGeom>
          <a:solidFill>
            <a:srgbClr val="E84C6E"/>
          </a:solidFill>
          <a:ln w="12700">
            <a:solidFill>
              <a:srgbClr val="E84C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54296" y="1554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90872" y="182880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visibility into distributor financial performance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03720" y="1481328"/>
            <a:ext cx="2240280" cy="768096"/>
          </a:xfrm>
          <a:prstGeom prst="rect">
            <a:avLst/>
          </a:prstGeom>
          <a:solidFill>
            <a:srgbClr val="162032"/>
          </a:solidFill>
          <a:ln w="12700">
            <a:solidFill>
              <a:srgbClr val="F5A623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03720" y="1481328"/>
            <a:ext cx="45720" cy="76809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31736" y="1554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68312" y="182880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tracking inventory investment and dead stock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26280" y="2395728"/>
            <a:ext cx="2240280" cy="768096"/>
          </a:xfrm>
          <a:prstGeom prst="rect">
            <a:avLst/>
          </a:prstGeom>
          <a:solidFill>
            <a:srgbClr val="162032"/>
          </a:solidFill>
          <a:ln w="12700">
            <a:solidFill>
              <a:srgbClr val="F5A623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26280" y="2395728"/>
            <a:ext cx="45720" cy="76809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54296" y="2468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690872" y="274320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monitoring of beat-level and outlet-level sales execution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903720" y="2395728"/>
            <a:ext cx="2240280" cy="768096"/>
          </a:xfrm>
          <a:prstGeom prst="rect">
            <a:avLst/>
          </a:prstGeom>
          <a:solidFill>
            <a:srgbClr val="162032"/>
          </a:solidFill>
          <a:ln w="12700">
            <a:solidFill>
              <a:srgbClr val="E84C6E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903720" y="2395728"/>
            <a:ext cx="45720" cy="768096"/>
          </a:xfrm>
          <a:prstGeom prst="rect">
            <a:avLst/>
          </a:prstGeom>
          <a:solidFill>
            <a:srgbClr val="E84C6E"/>
          </a:solidFill>
          <a:ln w="12700">
            <a:solidFill>
              <a:srgbClr val="E84C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31736" y="2468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068312" y="274320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identification of underperforming distributors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26280" y="3310128"/>
            <a:ext cx="2240280" cy="768096"/>
          </a:xfrm>
          <a:prstGeom prst="rect">
            <a:avLst/>
          </a:prstGeom>
          <a:solidFill>
            <a:srgbClr val="162032"/>
          </a:solidFill>
          <a:ln w="12700">
            <a:solidFill>
              <a:srgbClr val="E84C6E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26280" y="3310128"/>
            <a:ext cx="45720" cy="768096"/>
          </a:xfrm>
          <a:prstGeom prst="rect">
            <a:avLst/>
          </a:prstGeom>
          <a:solidFill>
            <a:srgbClr val="E84C6E"/>
          </a:solidFill>
          <a:ln w="12700">
            <a:solidFill>
              <a:srgbClr val="E84C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54296" y="33832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690872" y="365760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Inability to measure distributor ROI and profitability accurately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903720" y="3310128"/>
            <a:ext cx="2240280" cy="768096"/>
          </a:xfrm>
          <a:prstGeom prst="rect">
            <a:avLst/>
          </a:prstGeom>
          <a:solidFill>
            <a:srgbClr val="162032"/>
          </a:solidFill>
          <a:ln w="12700">
            <a:solidFill>
              <a:srgbClr val="F5A623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903720" y="3310128"/>
            <a:ext cx="45720" cy="76809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31736" y="33832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068312" y="365760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monthly reviews consuming significant time and effort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11480" y="2871216"/>
            <a:ext cx="3931920" cy="1883664"/>
          </a:xfrm>
          <a:prstGeom prst="rect">
            <a:avLst/>
          </a:prstGeom>
          <a:solidFill>
            <a:srgbClr val="162032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11480" y="2871216"/>
            <a:ext cx="45720" cy="1883664"/>
          </a:xfrm>
          <a:prstGeom prst="rect">
            <a:avLst/>
          </a:prstGeom>
          <a:solidFill>
            <a:srgbClr val="E84C6E"/>
          </a:solidFill>
          <a:ln w="12700">
            <a:solidFill>
              <a:srgbClr val="E84C6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29260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E84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48640" y="3163824"/>
            <a:ext cx="3703320" cy="5486"/>
          </a:xfrm>
          <a:prstGeom prst="rect">
            <a:avLst/>
          </a:prstGeom>
          <a:solidFill>
            <a:srgbClr val="1E2E45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6928" y="3236976"/>
            <a:ext cx="54864" cy="54864"/>
          </a:xfrm>
          <a:prstGeom prst="rect">
            <a:avLst/>
          </a:prstGeom>
          <a:solidFill>
            <a:srgbClr val="E84C6E"/>
          </a:solidFill>
          <a:ln w="12700">
            <a:solidFill>
              <a:srgbClr val="E84C6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3232" y="3218688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growth affected by poor data visibility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66928" y="3584448"/>
            <a:ext cx="54864" cy="54864"/>
          </a:xfrm>
          <a:prstGeom prst="rect">
            <a:avLst/>
          </a:prstGeom>
          <a:solidFill>
            <a:srgbClr val="E84C6E"/>
          </a:solidFill>
          <a:ln w="12700">
            <a:solidFill>
              <a:srgbClr val="E84C6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3232" y="356616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 blocked in excess inventory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66928" y="3931920"/>
            <a:ext cx="54864" cy="54864"/>
          </a:xfrm>
          <a:prstGeom prst="rect">
            <a:avLst/>
          </a:prstGeom>
          <a:solidFill>
            <a:srgbClr val="E84C6E"/>
          </a:solidFill>
          <a:ln w="12700">
            <a:solidFill>
              <a:srgbClr val="E84C6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3232" y="391363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 profitability measured inaccurately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66928" y="4279392"/>
            <a:ext cx="54864" cy="54864"/>
          </a:xfrm>
          <a:prstGeom prst="rect">
            <a:avLst/>
          </a:prstGeom>
          <a:solidFill>
            <a:srgbClr val="E84C6E"/>
          </a:solidFill>
          <a:ln w="12700">
            <a:solidFill>
              <a:srgbClr val="E84C6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3232" y="426110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execution gaps going undetected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504" y="13252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C6A7"/>
          </a:solidFill>
          <a:ln w="12700">
            <a:solidFill>
              <a:srgbClr val="00C6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4928616"/>
            <a:ext cx="8321040" cy="4572"/>
          </a:xfrm>
          <a:prstGeom prst="rect">
            <a:avLst/>
          </a:prstGeom>
          <a:solidFill>
            <a:srgbClr val="1E2E45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946904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 Detailing Dashboard  |  CP1 Viva Presentation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292608"/>
            <a:ext cx="73152" cy="73152"/>
          </a:xfrm>
          <a:prstGeom prst="rect">
            <a:avLst/>
          </a:prstGeom>
          <a:solidFill>
            <a:srgbClr val="00C6A7"/>
          </a:solidFill>
          <a:ln w="12700">
            <a:solidFill>
              <a:srgbClr val="00C6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2468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0C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530352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Dashboard Is Designed to Achieve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412480" y="2468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8106" y="1481328"/>
            <a:ext cx="4133088" cy="713232"/>
          </a:xfrm>
          <a:prstGeom prst="rect">
            <a:avLst/>
          </a:prstGeom>
          <a:solidFill>
            <a:srgbClr val="162032"/>
          </a:solidFill>
          <a:ln w="12700">
            <a:solidFill>
              <a:srgbClr val="00C6A7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1481328"/>
            <a:ext cx="45720" cy="713232"/>
          </a:xfrm>
          <a:prstGeom prst="rect">
            <a:avLst/>
          </a:prstGeom>
          <a:solidFill>
            <a:srgbClr val="00C6A7"/>
          </a:solidFill>
          <a:ln w="12700">
            <a:solidFill>
              <a:srgbClr val="00C6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" y="15361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6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41832" y="1536192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Revenue &amp; Profitability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76072" y="1810512"/>
            <a:ext cx="3858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net sales, target achievement %, and margin performance at distributor and category level in real time.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4773168" y="1481328"/>
            <a:ext cx="4133088" cy="713232"/>
          </a:xfrm>
          <a:prstGeom prst="rect">
            <a:avLst/>
          </a:prstGeom>
          <a:solidFill>
            <a:srgbClr val="162032"/>
          </a:solidFill>
          <a:ln w="12700">
            <a:solidFill>
              <a:srgbClr val="00C6A7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73168" y="1481328"/>
            <a:ext cx="45720" cy="713232"/>
          </a:xfrm>
          <a:prstGeom prst="rect">
            <a:avLst/>
          </a:prstGeom>
          <a:solidFill>
            <a:srgbClr val="00C6A7"/>
          </a:solidFill>
          <a:ln w="12700">
            <a:solidFill>
              <a:srgbClr val="00C6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01184" y="15361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6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03520" y="1536192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ROI &amp; Investment Efficiency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37760" y="1810512"/>
            <a:ext cx="3858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distributor ROI using gross profit, inventory investment, and outstanding receivables to identify capital blockage.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411480" y="2304288"/>
            <a:ext cx="4133088" cy="713232"/>
          </a:xfrm>
          <a:prstGeom prst="rect">
            <a:avLst/>
          </a:prstGeom>
          <a:solidFill>
            <a:srgbClr val="162032"/>
          </a:solidFill>
          <a:ln w="12700">
            <a:solidFill>
              <a:srgbClr val="F5A623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2304288"/>
            <a:ext cx="45720" cy="7132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9496" y="23591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41832" y="2359152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Inventory Movement &amp; Stock Health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76072" y="2633472"/>
            <a:ext cx="3858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turnover ratios, days of stock, and flag slow-moving, damaged, or expiry-risk products proactively.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4773168" y="2304288"/>
            <a:ext cx="4133088" cy="713232"/>
          </a:xfrm>
          <a:prstGeom prst="rect">
            <a:avLst/>
          </a:prstGeom>
          <a:solidFill>
            <a:srgbClr val="162032"/>
          </a:solidFill>
          <a:ln w="12700">
            <a:solidFill>
              <a:srgbClr val="F5A623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73168" y="2304288"/>
            <a:ext cx="45720" cy="7132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01184" y="23591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03520" y="2359152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Capital Blockage Areas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937760" y="2633472"/>
            <a:ext cx="3858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Pinpoint where distributor funds are locked — excess inventory, dead stock, or overdue outstanding amounts.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411480" y="3127248"/>
            <a:ext cx="4133088" cy="713232"/>
          </a:xfrm>
          <a:prstGeom prst="rect">
            <a:avLst/>
          </a:prstGeom>
          <a:solidFill>
            <a:srgbClr val="162032"/>
          </a:solidFill>
          <a:ln w="12700">
            <a:solidFill>
              <a:srgbClr val="E84C6E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11480" y="3127248"/>
            <a:ext cx="45720" cy="713232"/>
          </a:xfrm>
          <a:prstGeom prst="rect">
            <a:avLst/>
          </a:prstGeom>
          <a:solidFill>
            <a:srgbClr val="E84C6E"/>
          </a:solidFill>
          <a:ln w="12700">
            <a:solidFill>
              <a:srgbClr val="E84C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9496" y="31821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4C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41832" y="3182112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Beat &amp; Outlet Performance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76072" y="3456432"/>
            <a:ext cx="3858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route-level sales execution, outlet coverage, average order value, and return percentage by beat.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4773168" y="3127248"/>
            <a:ext cx="4133088" cy="713232"/>
          </a:xfrm>
          <a:prstGeom prst="rect">
            <a:avLst/>
          </a:prstGeom>
          <a:solidFill>
            <a:srgbClr val="162032"/>
          </a:solidFill>
          <a:ln w="12700">
            <a:solidFill>
              <a:srgbClr val="E84C6E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73168" y="3127248"/>
            <a:ext cx="45720" cy="713232"/>
          </a:xfrm>
          <a:prstGeom prst="rect">
            <a:avLst/>
          </a:prstGeom>
          <a:solidFill>
            <a:srgbClr val="E84C6E"/>
          </a:solidFill>
          <a:ln w="12700">
            <a:solidFill>
              <a:srgbClr val="E84C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01184" y="31821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4C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303520" y="3182112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Real-Time Visual Decision Making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937760" y="3456432"/>
            <a:ext cx="3858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manual Excel-based reviews with an interactive Power BI dashboard for faster, data-driven decisions.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411480" y="3950208"/>
            <a:ext cx="4133088" cy="713232"/>
          </a:xfrm>
          <a:prstGeom prst="rect">
            <a:avLst/>
          </a:prstGeom>
          <a:solidFill>
            <a:srgbClr val="162032"/>
          </a:solidFill>
          <a:ln w="12700">
            <a:solidFill>
              <a:srgbClr val="4A90D9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11480" y="3950208"/>
            <a:ext cx="45720" cy="71323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9496" y="40050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41832" y="4005072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Order Fulfilment &amp; Delivery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76072" y="4279392"/>
            <a:ext cx="3858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delivery delays, fulfilment %, payment completion status, and return order rates by distributor.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4773168" y="3950208"/>
            <a:ext cx="4133088" cy="713232"/>
          </a:xfrm>
          <a:prstGeom prst="rect">
            <a:avLst/>
          </a:prstGeom>
          <a:solidFill>
            <a:srgbClr val="162032"/>
          </a:solidFill>
          <a:ln w="12700">
            <a:solidFill>
              <a:srgbClr val="4A90D9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73168" y="3950208"/>
            <a:ext cx="45720" cy="71323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01184" y="40050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303520" y="4005072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Category-Wise Contribution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937760" y="4279392"/>
            <a:ext cx="3858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which SBUs and product categories drive revenue and profitability across the distributor network.</a:t>
            </a:r>
            <a:endParaRPr lang="en-US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4928616"/>
            <a:ext cx="8321040" cy="4572"/>
          </a:xfrm>
          <a:prstGeom prst="rect">
            <a:avLst/>
          </a:prstGeom>
          <a:solidFill>
            <a:srgbClr val="1E2E45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946904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 Detailing Dashboard  |  CP1 Viva Presentation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292608"/>
            <a:ext cx="73152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2468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530352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Outcomes for Stakeholders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412480" y="2468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" y="1481328"/>
            <a:ext cx="3977640" cy="292608"/>
          </a:xfrm>
          <a:prstGeom prst="rect">
            <a:avLst/>
          </a:prstGeom>
          <a:solidFill>
            <a:srgbClr val="00C6A7"/>
          </a:solidFill>
          <a:ln w="12700">
            <a:solidFill>
              <a:srgbClr val="00C6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5087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AREA SALES EXECUTIVES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1847088"/>
            <a:ext cx="3977640" cy="438912"/>
          </a:xfrm>
          <a:prstGeom prst="rect">
            <a:avLst/>
          </a:prstGeom>
          <a:solidFill>
            <a:srgbClr val="162032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189280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1920240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identification of underperforming distributors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2359152"/>
            <a:ext cx="3977640" cy="438912"/>
          </a:xfrm>
          <a:prstGeom prst="rect">
            <a:avLst/>
          </a:prstGeom>
          <a:solidFill>
            <a:srgbClr val="162032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" y="240487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2432304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visibility into distributor ROI and working capital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" y="2871216"/>
            <a:ext cx="3977640" cy="438912"/>
          </a:xfrm>
          <a:prstGeom prst="rect">
            <a:avLst/>
          </a:prstGeom>
          <a:solidFill>
            <a:srgbClr val="162032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" y="2916936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2944368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inventory and stock management decisions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3383280"/>
            <a:ext cx="3977640" cy="438912"/>
          </a:xfrm>
          <a:prstGeom prst="rect">
            <a:avLst/>
          </a:prstGeom>
          <a:solidFill>
            <a:srgbClr val="162032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" y="342900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345643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monthly performance reviews — no manual effort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1480" y="3895344"/>
            <a:ext cx="3977640" cy="438912"/>
          </a:xfrm>
          <a:prstGeom prst="rect">
            <a:avLst/>
          </a:prstGeom>
          <a:solidFill>
            <a:srgbClr val="162032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" y="394106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4400" y="3968496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beat and outlet performance monitoring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1481328"/>
            <a:ext cx="3977640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15087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DISTRIBUTION MANAGEMENT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1847088"/>
            <a:ext cx="3977640" cy="438912"/>
          </a:xfrm>
          <a:prstGeom prst="rect">
            <a:avLst/>
          </a:prstGeom>
          <a:solidFill>
            <a:srgbClr val="162032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189280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248656" y="1920240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excess inventory and dead stock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54880" y="2359152"/>
            <a:ext cx="3977640" cy="438912"/>
          </a:xfrm>
          <a:prstGeom prst="rect">
            <a:avLst/>
          </a:prstGeom>
          <a:solidFill>
            <a:srgbClr val="162032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240487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🚚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248656" y="2432304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order fulfilment monitoring and delivery tracking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54880" y="2871216"/>
            <a:ext cx="3977640" cy="438912"/>
          </a:xfrm>
          <a:prstGeom prst="rect">
            <a:avLst/>
          </a:prstGeom>
          <a:solidFill>
            <a:srgbClr val="162032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2916936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💹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248656" y="2944368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profitability analysis by category and distributor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54880" y="3383280"/>
            <a:ext cx="3977640" cy="438912"/>
          </a:xfrm>
          <a:prstGeom prst="rect">
            <a:avLst/>
          </a:prstGeom>
          <a:solidFill>
            <a:srgbClr val="162032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342900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248656" y="345643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control over outstanding and credit utilization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54880" y="3895344"/>
            <a:ext cx="3977640" cy="438912"/>
          </a:xfrm>
          <a:prstGeom prst="rect">
            <a:avLst/>
          </a:prstGeom>
          <a:solidFill>
            <a:srgbClr val="162032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394106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248656" y="3968496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operational efficiency across the network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11480" y="4617720"/>
            <a:ext cx="8321040" cy="23774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4636008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BENEFIT  ·  Centralized monitoring  ·  Faster reporting  ·  Better sales planning  ·  Scalable for live ERP integration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C6A7"/>
          </a:solidFill>
          <a:ln w="12700">
            <a:solidFill>
              <a:srgbClr val="00C6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4928616"/>
            <a:ext cx="8321040" cy="4572"/>
          </a:xfrm>
          <a:prstGeom prst="rect">
            <a:avLst/>
          </a:prstGeom>
          <a:solidFill>
            <a:srgbClr val="1E2E45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946904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 Detailing Dashboard  |  CP1 Viva Presentation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292608"/>
            <a:ext cx="73152" cy="73152"/>
          </a:xfrm>
          <a:prstGeom prst="rect">
            <a:avLst/>
          </a:prstGeom>
          <a:solidFill>
            <a:srgbClr val="00C6A7"/>
          </a:solidFill>
          <a:ln w="12700">
            <a:solidFill>
              <a:srgbClr val="00C6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2468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0C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530352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at a Glance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412480" y="2468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" y="1481328"/>
            <a:ext cx="2011680" cy="1115568"/>
          </a:xfrm>
          <a:prstGeom prst="rect">
            <a:avLst/>
          </a:prstGeom>
          <a:solidFill>
            <a:srgbClr val="162032"/>
          </a:solidFill>
          <a:ln w="12700">
            <a:solidFill>
              <a:srgbClr val="1E2E45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1481328"/>
            <a:ext cx="45720" cy="1115568"/>
          </a:xfrm>
          <a:prstGeom prst="rect">
            <a:avLst/>
          </a:prstGeom>
          <a:solidFill>
            <a:srgbClr val="00C6A7"/>
          </a:solidFill>
          <a:ln w="12700">
            <a:solidFill>
              <a:srgbClr val="00C6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1609344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₹6.88 Cr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76072" y="2084832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00C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SALES (FY 24-25)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76072" y="2304288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2 fiscal years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587752" y="1481328"/>
            <a:ext cx="2011680" cy="1115568"/>
          </a:xfrm>
          <a:prstGeom prst="rect">
            <a:avLst/>
          </a:prstGeom>
          <a:solidFill>
            <a:srgbClr val="162032"/>
          </a:solidFill>
          <a:ln w="12700">
            <a:solidFill>
              <a:srgbClr val="1E2E45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87752" y="1481328"/>
            <a:ext cx="45720" cy="11155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52344" y="1609344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83.9%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752344" y="2084832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ACHIEVEMENT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752344" y="2304288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₹8.20 Cr target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64024" y="1481328"/>
            <a:ext cx="2011680" cy="1115568"/>
          </a:xfrm>
          <a:prstGeom prst="rect">
            <a:avLst/>
          </a:prstGeom>
          <a:solidFill>
            <a:srgbClr val="162032"/>
          </a:solidFill>
          <a:ln w="12700">
            <a:solidFill>
              <a:srgbClr val="1E2E45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64024" y="1481328"/>
            <a:ext cx="45720" cy="1115568"/>
          </a:xfrm>
          <a:prstGeom prst="rect">
            <a:avLst/>
          </a:prstGeom>
          <a:solidFill>
            <a:srgbClr val="00C6A7"/>
          </a:solidFill>
          <a:ln w="12700">
            <a:solidFill>
              <a:srgbClr val="00C6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28616" y="1609344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22.1%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928616" y="2084832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00C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928616" y="2304288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across all orders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940296" y="1481328"/>
            <a:ext cx="2011680" cy="1115568"/>
          </a:xfrm>
          <a:prstGeom prst="rect">
            <a:avLst/>
          </a:prstGeom>
          <a:solidFill>
            <a:srgbClr val="162032"/>
          </a:solidFill>
          <a:ln w="12700">
            <a:solidFill>
              <a:srgbClr val="1E2E45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940296" y="1481328"/>
            <a:ext cx="45720" cy="1115568"/>
          </a:xfrm>
          <a:prstGeom prst="rect">
            <a:avLst/>
          </a:prstGeom>
          <a:solidFill>
            <a:srgbClr val="E84C6E"/>
          </a:solidFill>
          <a:ln w="12700">
            <a:solidFill>
              <a:srgbClr val="E84C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04888" y="1609344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₹48.8 Cr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7104888" y="2084832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E84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VALUE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104888" y="2304288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stock value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11480" y="285292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YEAR-ON-YEAR SALES vs TARGET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1480" y="3063240"/>
            <a:ext cx="4114800" cy="5486"/>
          </a:xfrm>
          <a:prstGeom prst="rect">
            <a:avLst/>
          </a:prstGeom>
          <a:solidFill>
            <a:srgbClr val="1E2E45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21868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Sales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920240" y="3246120"/>
            <a:ext cx="2468880" cy="146304"/>
          </a:xfrm>
          <a:prstGeom prst="rect">
            <a:avLst/>
          </a:prstGeom>
          <a:solidFill>
            <a:srgbClr val="162032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920240" y="3246120"/>
            <a:ext cx="1570208" cy="146304"/>
          </a:xfrm>
          <a:prstGeom prst="rect">
            <a:avLst/>
          </a:prstGeom>
          <a:solidFill>
            <a:srgbClr val="00C6A7"/>
          </a:solidFill>
          <a:ln w="12700">
            <a:solidFill>
              <a:srgbClr val="00C6A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34840" y="32186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₹3.18Cr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11480" y="354787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Target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920240" y="3575304"/>
            <a:ext cx="2468880" cy="146304"/>
          </a:xfrm>
          <a:prstGeom prst="rect">
            <a:avLst/>
          </a:prstGeom>
          <a:solidFill>
            <a:srgbClr val="162032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920240" y="3575304"/>
            <a:ext cx="1807220" cy="146304"/>
          </a:xfrm>
          <a:prstGeom prst="rect">
            <a:avLst/>
          </a:prstGeom>
          <a:solidFill>
            <a:srgbClr val="1E2E45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34840" y="354787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₹3.66Cr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11480" y="387705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Sales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920240" y="3904488"/>
            <a:ext cx="2468880" cy="146304"/>
          </a:xfrm>
          <a:prstGeom prst="rect">
            <a:avLst/>
          </a:prstGeom>
          <a:solidFill>
            <a:srgbClr val="162032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20240" y="3904488"/>
            <a:ext cx="1822033" cy="146304"/>
          </a:xfrm>
          <a:prstGeom prst="rect">
            <a:avLst/>
          </a:prstGeom>
          <a:solidFill>
            <a:srgbClr val="5DD9C5"/>
          </a:solidFill>
          <a:ln w="12700">
            <a:solidFill>
              <a:srgbClr val="5DD9C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34840" y="387705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₹3.69Cr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11480" y="420624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Target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920240" y="4233672"/>
            <a:ext cx="2468880" cy="146304"/>
          </a:xfrm>
          <a:prstGeom prst="rect">
            <a:avLst/>
          </a:prstGeom>
          <a:solidFill>
            <a:srgbClr val="162032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920240" y="4233672"/>
            <a:ext cx="2236805" cy="146304"/>
          </a:xfrm>
          <a:prstGeom prst="rect">
            <a:avLst/>
          </a:prstGeom>
          <a:solidFill>
            <a:srgbClr val="344560"/>
          </a:solidFill>
          <a:ln w="12700">
            <a:solidFill>
              <a:srgbClr val="34456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434840" y="42062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₹4.53Cr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212080" y="285292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FULFILMENT BREAKDOWN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212080" y="3063240"/>
            <a:ext cx="3566160" cy="5486"/>
          </a:xfrm>
          <a:prstGeom prst="rect">
            <a:avLst/>
          </a:prstGeom>
          <a:solidFill>
            <a:srgbClr val="1E2E45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212080" y="3218688"/>
            <a:ext cx="109728" cy="201168"/>
          </a:xfrm>
          <a:prstGeom prst="rect">
            <a:avLst/>
          </a:prstGeom>
          <a:solidFill>
            <a:srgbClr val="00C6A7"/>
          </a:solidFill>
          <a:ln w="12700">
            <a:solidFill>
              <a:srgbClr val="00C6A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94960" y="3218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766560" y="3255264"/>
            <a:ext cx="1371600" cy="128016"/>
          </a:xfrm>
          <a:prstGeom prst="rect">
            <a:avLst/>
          </a:prstGeom>
          <a:solidFill>
            <a:srgbClr val="162032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0" y="3255264"/>
            <a:ext cx="674827" cy="128016"/>
          </a:xfrm>
          <a:prstGeom prst="rect">
            <a:avLst/>
          </a:prstGeom>
          <a:solidFill>
            <a:srgbClr val="00C6A7"/>
          </a:solidFill>
          <a:ln w="12700">
            <a:solidFill>
              <a:srgbClr val="00C6A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183880" y="32186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49.2%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212080" y="3547872"/>
            <a:ext cx="109728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94960" y="35478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766560" y="3584448"/>
            <a:ext cx="1371600" cy="128016"/>
          </a:xfrm>
          <a:prstGeom prst="rect">
            <a:avLst/>
          </a:prstGeom>
          <a:solidFill>
            <a:srgbClr val="162032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766560" y="3584448"/>
            <a:ext cx="237287" cy="12801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183880" y="35478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17.3%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212080" y="3877056"/>
            <a:ext cx="109728" cy="201168"/>
          </a:xfrm>
          <a:prstGeom prst="rect">
            <a:avLst/>
          </a:prstGeom>
          <a:solidFill>
            <a:srgbClr val="E84C6E"/>
          </a:solidFill>
          <a:ln w="12700">
            <a:solidFill>
              <a:srgbClr val="E84C6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394960" y="38770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766560" y="3913632"/>
            <a:ext cx="1371600" cy="128016"/>
          </a:xfrm>
          <a:prstGeom prst="rect">
            <a:avLst/>
          </a:prstGeom>
          <a:solidFill>
            <a:srgbClr val="162032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766560" y="3913632"/>
            <a:ext cx="229057" cy="128016"/>
          </a:xfrm>
          <a:prstGeom prst="rect">
            <a:avLst/>
          </a:prstGeom>
          <a:solidFill>
            <a:srgbClr val="E84C6E"/>
          </a:solidFill>
          <a:ln w="12700">
            <a:solidFill>
              <a:srgbClr val="E84C6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183880" y="387705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16.7%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5212080" y="4206240"/>
            <a:ext cx="109728" cy="20116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394960" y="42062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Transit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6766560" y="4242816"/>
            <a:ext cx="1371600" cy="128016"/>
          </a:xfrm>
          <a:prstGeom prst="rect">
            <a:avLst/>
          </a:prstGeom>
          <a:solidFill>
            <a:srgbClr val="162032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766560" y="4242816"/>
            <a:ext cx="229057" cy="12801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183880" y="42062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16.7%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4928616"/>
            <a:ext cx="8321040" cy="4572"/>
          </a:xfrm>
          <a:prstGeom prst="rect">
            <a:avLst/>
          </a:prstGeom>
          <a:solidFill>
            <a:srgbClr val="1E2E45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946904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 Detailing Dashboard  |  CP1 Viva Presentation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292608"/>
            <a:ext cx="73152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2468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530352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Trends &amp; Regional Breakdown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412480" y="2468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411480" y="1481328"/>
          <a:ext cx="51206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8"/>
          <p:cNvSpPr/>
          <p:nvPr/>
        </p:nvSpPr>
        <p:spPr>
          <a:xfrm>
            <a:off x="5760720" y="148132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ZONE-WISE NET SALES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760720" y="1719072"/>
            <a:ext cx="3017520" cy="5486"/>
          </a:xfrm>
          <a:prstGeom prst="rect">
            <a:avLst/>
          </a:prstGeom>
          <a:solidFill>
            <a:srgbClr val="1E2E45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60720" y="18653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760720" y="2130552"/>
            <a:ext cx="3017520" cy="128016"/>
          </a:xfrm>
          <a:prstGeom prst="rect">
            <a:avLst/>
          </a:prstGeom>
          <a:solidFill>
            <a:srgbClr val="162032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60720" y="2130552"/>
            <a:ext cx="1022939" cy="128016"/>
          </a:xfrm>
          <a:prstGeom prst="rect">
            <a:avLst/>
          </a:prstGeom>
          <a:solidFill>
            <a:srgbClr val="00C6A7"/>
          </a:solidFill>
          <a:ln w="12700">
            <a:solidFill>
              <a:srgbClr val="00C6A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66560" y="18653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₹232.8L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772400" y="186537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33.9%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760720" y="250545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760720" y="2770632"/>
            <a:ext cx="3017520" cy="128016"/>
          </a:xfrm>
          <a:prstGeom prst="rect">
            <a:avLst/>
          </a:prstGeom>
          <a:solidFill>
            <a:srgbClr val="162032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760720" y="2770632"/>
            <a:ext cx="805678" cy="12801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766560" y="250545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₹183.4L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772400" y="250545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26.7%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760720" y="314553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760720" y="3410712"/>
            <a:ext cx="3017520" cy="128016"/>
          </a:xfrm>
          <a:prstGeom prst="rect">
            <a:avLst/>
          </a:prstGeom>
          <a:solidFill>
            <a:srgbClr val="162032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760720" y="3410712"/>
            <a:ext cx="790590" cy="12801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766560" y="314553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₹180.2L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772400" y="314553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26.2%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760720" y="378561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5760720" y="4050792"/>
            <a:ext cx="3017520" cy="128016"/>
          </a:xfrm>
          <a:prstGeom prst="rect">
            <a:avLst/>
          </a:prstGeom>
          <a:solidFill>
            <a:srgbClr val="162032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760720" y="4050792"/>
            <a:ext cx="401330" cy="128016"/>
          </a:xfrm>
          <a:prstGeom prst="rect">
            <a:avLst/>
          </a:prstGeom>
          <a:solidFill>
            <a:srgbClr val="E84C6E"/>
          </a:solidFill>
          <a:ln w="12700">
            <a:solidFill>
              <a:srgbClr val="E84C6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766560" y="378561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4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₹91.3L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7772400" y="378561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13.3%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760720" y="4370832"/>
            <a:ext cx="3017520" cy="438912"/>
          </a:xfrm>
          <a:prstGeom prst="rect">
            <a:avLst/>
          </a:prstGeom>
          <a:solidFill>
            <a:srgbClr val="162032"/>
          </a:solidFill>
          <a:ln w="12700">
            <a:solidFill>
              <a:srgbClr val="F5A623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5870448" y="44622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leads 33.9%  ·  Q4 '25 is peak at ₹119.2L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C6A7"/>
          </a:solidFill>
          <a:ln w="12700">
            <a:solidFill>
              <a:srgbClr val="00C6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4928616"/>
            <a:ext cx="8321040" cy="4572"/>
          </a:xfrm>
          <a:prstGeom prst="rect">
            <a:avLst/>
          </a:prstGeom>
          <a:solidFill>
            <a:srgbClr val="1E2E45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946904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 Detailing Dashboard  |  CP1 Viva Presentation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292608"/>
            <a:ext cx="73152" cy="73152"/>
          </a:xfrm>
          <a:prstGeom prst="rect">
            <a:avLst/>
          </a:prstGeom>
          <a:solidFill>
            <a:srgbClr val="00C6A7"/>
          </a:solidFill>
          <a:ln w="12700">
            <a:solidFill>
              <a:srgbClr val="00C6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2468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0C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ANALYSIS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530352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Category &amp; SBU Revenue Contribution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412480" y="2468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14813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SBU BREAKDOWN</a:t>
            </a:r>
            <a:endParaRPr lang="en-US" sz="95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411480" y="1719072"/>
          <a:ext cx="3200400" cy="28163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 9"/>
          <p:cNvSpPr/>
          <p:nvPr/>
        </p:nvSpPr>
        <p:spPr>
          <a:xfrm>
            <a:off x="3840480" y="14813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CATEGORIES BY NET SALES (₹L)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840480" y="1719072"/>
            <a:ext cx="4937760" cy="5486"/>
          </a:xfrm>
          <a:prstGeom prst="rect">
            <a:avLst/>
          </a:prstGeom>
          <a:solidFill>
            <a:srgbClr val="1E2E45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40480" y="18836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DEO &amp; FRAGRANCE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715000" y="1920240"/>
            <a:ext cx="2377440" cy="146304"/>
          </a:xfrm>
          <a:prstGeom prst="rect">
            <a:avLst/>
          </a:prstGeom>
          <a:solidFill>
            <a:srgbClr val="162032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715000" y="1920240"/>
            <a:ext cx="2377440" cy="146304"/>
          </a:xfrm>
          <a:prstGeom prst="rect">
            <a:avLst/>
          </a:prstGeom>
          <a:solidFill>
            <a:srgbClr val="00C6A7"/>
          </a:solidFill>
          <a:ln w="12700">
            <a:solidFill>
              <a:srgbClr val="00C6A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138160" y="18836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₹169.8L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840480" y="23408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SHOWER GEL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715000" y="2377440"/>
            <a:ext cx="2377440" cy="146304"/>
          </a:xfrm>
          <a:prstGeom prst="rect">
            <a:avLst/>
          </a:prstGeom>
          <a:solidFill>
            <a:srgbClr val="162032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715000" y="2377440"/>
            <a:ext cx="1719374" cy="146304"/>
          </a:xfrm>
          <a:prstGeom prst="rect">
            <a:avLst/>
          </a:prstGeom>
          <a:solidFill>
            <a:srgbClr val="5DD9C5"/>
          </a:solidFill>
          <a:ln w="12700">
            <a:solidFill>
              <a:srgbClr val="5DD9C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138160" y="23408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₹122.8L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840480" y="27980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WASH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715000" y="2834640"/>
            <a:ext cx="2377440" cy="146304"/>
          </a:xfrm>
          <a:prstGeom prst="rect">
            <a:avLst/>
          </a:prstGeom>
          <a:solidFill>
            <a:srgbClr val="162032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715000" y="2834640"/>
            <a:ext cx="1395941" cy="146304"/>
          </a:xfrm>
          <a:prstGeom prst="rect">
            <a:avLst/>
          </a:prstGeom>
          <a:solidFill>
            <a:srgbClr val="009E86"/>
          </a:solidFill>
          <a:ln w="12700">
            <a:solidFill>
              <a:srgbClr val="009E8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38160" y="27980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₹99.7L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3840480" y="32552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ANTISEPTIC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715000" y="3291840"/>
            <a:ext cx="2377440" cy="146304"/>
          </a:xfrm>
          <a:prstGeom prst="rect">
            <a:avLst/>
          </a:prstGeom>
          <a:solidFill>
            <a:srgbClr val="162032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715000" y="3291840"/>
            <a:ext cx="924093" cy="14630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138160" y="32552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₹66L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3840480" y="37124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CLEANER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715000" y="3749040"/>
            <a:ext cx="2377440" cy="146304"/>
          </a:xfrm>
          <a:prstGeom prst="rect">
            <a:avLst/>
          </a:prstGeom>
          <a:solidFill>
            <a:srgbClr val="162032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715000" y="3749040"/>
            <a:ext cx="756076" cy="146304"/>
          </a:xfrm>
          <a:prstGeom prst="rect">
            <a:avLst/>
          </a:prstGeom>
          <a:solidFill>
            <a:srgbClr val="D4891A"/>
          </a:solidFill>
          <a:ln w="12700">
            <a:solidFill>
              <a:srgbClr val="D4891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138160" y="37124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₹54L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3840480" y="41696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TALC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715000" y="4206240"/>
            <a:ext cx="2377440" cy="146304"/>
          </a:xfrm>
          <a:prstGeom prst="rect">
            <a:avLst/>
          </a:prstGeom>
          <a:solidFill>
            <a:srgbClr val="162032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715000" y="4206240"/>
            <a:ext cx="642665" cy="14630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138160" y="41696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₹45.9L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411480" y="4434840"/>
            <a:ext cx="8321040" cy="384048"/>
          </a:xfrm>
          <a:prstGeom prst="rect">
            <a:avLst/>
          </a:prstGeom>
          <a:solidFill>
            <a:srgbClr val="162032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48640" y="448970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Care dominates at 83.5%  ·  Deo &amp; Fragrance is #1 at ₹169.8L  ·  All SBUs achieve ~84% of target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E84C6E"/>
          </a:solidFill>
          <a:ln w="12700">
            <a:solidFill>
              <a:srgbClr val="E84C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4928616"/>
            <a:ext cx="8321040" cy="4572"/>
          </a:xfrm>
          <a:prstGeom prst="rect">
            <a:avLst/>
          </a:prstGeom>
          <a:solidFill>
            <a:srgbClr val="1E2E45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946904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 Detailing Dashboard  |  CP1 Viva Presentation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292608"/>
            <a:ext cx="73152" cy="73152"/>
          </a:xfrm>
          <a:prstGeom prst="rect">
            <a:avLst/>
          </a:prstGeom>
          <a:solidFill>
            <a:srgbClr val="E84C6E"/>
          </a:solidFill>
          <a:ln w="12700">
            <a:solidFill>
              <a:srgbClr val="E84C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2468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E84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 NETWORK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530352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Performers &amp; Tier Analysis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412480" y="2468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14813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DISTRIBUTORS BY REVENUE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1719072"/>
            <a:ext cx="4937760" cy="5486"/>
          </a:xfrm>
          <a:prstGeom prst="rect">
            <a:avLst/>
          </a:prstGeom>
          <a:solidFill>
            <a:srgbClr val="1E2E45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883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6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188366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SENTHOOR ENTERPRISES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21031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 ·  Central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017520" y="1920240"/>
            <a:ext cx="2103120" cy="146304"/>
          </a:xfrm>
          <a:prstGeom prst="rect">
            <a:avLst/>
          </a:prstGeom>
          <a:solidFill>
            <a:srgbClr val="162032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17520" y="1920240"/>
            <a:ext cx="2094708" cy="146304"/>
          </a:xfrm>
          <a:prstGeom prst="rect">
            <a:avLst/>
          </a:prstGeom>
          <a:solidFill>
            <a:srgbClr val="00C6A7"/>
          </a:solidFill>
          <a:ln w="12700">
            <a:solidFill>
              <a:srgbClr val="00C6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188366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₹49.8L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24140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6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241401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PONNI WHOLESALE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26334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 ·  West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017520" y="2450592"/>
            <a:ext cx="2103120" cy="146304"/>
          </a:xfrm>
          <a:prstGeom prst="rect">
            <a:avLst/>
          </a:prstGeom>
          <a:solidFill>
            <a:srgbClr val="162032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17520" y="2450592"/>
            <a:ext cx="2035820" cy="146304"/>
          </a:xfrm>
          <a:prstGeom prst="rect">
            <a:avLst/>
          </a:prstGeom>
          <a:solidFill>
            <a:srgbClr val="5DD9C5"/>
          </a:solidFill>
          <a:ln w="12700">
            <a:solidFill>
              <a:srgbClr val="5DD9C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66360" y="241401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₹48.4L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29443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6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" y="294436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SELVARAJ AGENCIES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" y="316382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 ·  South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017520" y="2980944"/>
            <a:ext cx="2103120" cy="146304"/>
          </a:xfrm>
          <a:prstGeom prst="rect">
            <a:avLst/>
          </a:prstGeom>
          <a:solidFill>
            <a:srgbClr val="162032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17520" y="2980944"/>
            <a:ext cx="2023201" cy="146304"/>
          </a:xfrm>
          <a:prstGeom prst="rect">
            <a:avLst/>
          </a:prstGeom>
          <a:solidFill>
            <a:srgbClr val="009E86"/>
          </a:solidFill>
          <a:ln w="12700">
            <a:solidFill>
              <a:srgbClr val="009E8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66360" y="294436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₹48.1L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1480" y="3474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6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31520" y="34747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MUTHTHU MARKETING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1520" y="369417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 ·  South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017520" y="3511296"/>
            <a:ext cx="2103120" cy="146304"/>
          </a:xfrm>
          <a:prstGeom prst="rect">
            <a:avLst/>
          </a:prstGeom>
          <a:solidFill>
            <a:srgbClr val="162032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17520" y="3511296"/>
            <a:ext cx="1964314" cy="146304"/>
          </a:xfrm>
          <a:prstGeom prst="rect">
            <a:avLst/>
          </a:prstGeom>
          <a:solidFill>
            <a:srgbClr val="009E86"/>
          </a:solidFill>
          <a:ln w="12700">
            <a:solidFill>
              <a:srgbClr val="009E8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66360" y="347472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₹46.7L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11480" y="40050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6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31520" y="400507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MULLAI ENTERPRISES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31520" y="42245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 ·  North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017520" y="4041648"/>
            <a:ext cx="2103120" cy="146304"/>
          </a:xfrm>
          <a:prstGeom prst="rect">
            <a:avLst/>
          </a:prstGeom>
          <a:solidFill>
            <a:srgbClr val="162032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017520" y="4041648"/>
            <a:ext cx="1964314" cy="146304"/>
          </a:xfrm>
          <a:prstGeom prst="rect">
            <a:avLst/>
          </a:prstGeom>
          <a:solidFill>
            <a:srgbClr val="009E86"/>
          </a:solidFill>
          <a:ln w="12700">
            <a:solidFill>
              <a:srgbClr val="009E8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66360" y="400507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₹46.7L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943600" y="148132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TIER-WISE BREAKDOWN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943600" y="1719072"/>
            <a:ext cx="2834640" cy="5486"/>
          </a:xfrm>
          <a:prstGeom prst="rect">
            <a:avLst/>
          </a:prstGeom>
          <a:solidFill>
            <a:srgbClr val="1E2E45"/>
          </a:solidFill>
          <a:ln w="12700">
            <a:solidFill>
              <a:srgbClr val="1E2E45"/>
            </a:solidFill>
            <a:prstDash val="solid"/>
          </a:ln>
        </p:spPr>
      </p:sp>
      <p:graphicFrame>
        <p:nvGraphicFramePr>
          <p:cNvPr id="44" name="Chart 0"/>
          <p:cNvGraphicFramePr/>
          <p:nvPr/>
        </p:nvGraphicFramePr>
        <p:xfrm>
          <a:off x="5760720" y="1828800"/>
          <a:ext cx="30175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Shape 42"/>
          <p:cNvSpPr/>
          <p:nvPr/>
        </p:nvSpPr>
        <p:spPr>
          <a:xfrm>
            <a:off x="411480" y="4407408"/>
            <a:ext cx="4023360" cy="402336"/>
          </a:xfrm>
          <a:prstGeom prst="rect">
            <a:avLst/>
          </a:prstGeom>
          <a:solidFill>
            <a:srgbClr val="162032"/>
          </a:solidFill>
          <a:ln w="12700">
            <a:solidFill>
              <a:srgbClr val="00C6A7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48640" y="44622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active distributors across 4 geographic zones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4617720" y="4407408"/>
            <a:ext cx="4023360" cy="402336"/>
          </a:xfrm>
          <a:prstGeom prst="rect">
            <a:avLst/>
          </a:prstGeom>
          <a:solidFill>
            <a:srgbClr val="162032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754880" y="44622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distributors lead with ~38% revenue share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C6A7"/>
          </a:solidFill>
          <a:ln w="12700">
            <a:solidFill>
              <a:srgbClr val="00C6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4928616"/>
            <a:ext cx="8321040" cy="4572"/>
          </a:xfrm>
          <a:prstGeom prst="rect">
            <a:avLst/>
          </a:prstGeom>
          <a:solidFill>
            <a:srgbClr val="1E2E45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946904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 Detailing Dashboard  |  CP1 Viva Presentation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292608"/>
            <a:ext cx="73152" cy="73152"/>
          </a:xfrm>
          <a:prstGeom prst="rect">
            <a:avLst/>
          </a:prstGeom>
          <a:solidFill>
            <a:srgbClr val="00C6A7"/>
          </a:solidFill>
          <a:ln w="12700">
            <a:solidFill>
              <a:srgbClr val="00C6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2468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0C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INTELLIGENCE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530352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Stock Health &amp; Turnover Analysis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412480" y="2468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" y="1481328"/>
            <a:ext cx="2651760" cy="1115568"/>
          </a:xfrm>
          <a:prstGeom prst="rect">
            <a:avLst/>
          </a:prstGeom>
          <a:solidFill>
            <a:srgbClr val="162032"/>
          </a:solidFill>
          <a:ln w="12700">
            <a:solidFill>
              <a:srgbClr val="1E2E45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1481328"/>
            <a:ext cx="45720" cy="1115568"/>
          </a:xfrm>
          <a:prstGeom prst="rect">
            <a:avLst/>
          </a:prstGeom>
          <a:solidFill>
            <a:srgbClr val="00C6A7"/>
          </a:solidFill>
          <a:ln w="12700">
            <a:solidFill>
              <a:srgbClr val="00C6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1609344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₹48.8 Cr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76072" y="2084832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00C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INVENTORY VALUE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76072" y="2304288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stock across all SKUs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46120" y="1481328"/>
            <a:ext cx="2651760" cy="1115568"/>
          </a:xfrm>
          <a:prstGeom prst="rect">
            <a:avLst/>
          </a:prstGeom>
          <a:solidFill>
            <a:srgbClr val="162032"/>
          </a:solidFill>
          <a:ln w="12700">
            <a:solidFill>
              <a:srgbClr val="1E2E45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1481328"/>
            <a:ext cx="45720" cy="11155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10712" y="1609344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56.5 Days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410712" y="2084832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DAYS OF STOCK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410712" y="2304288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across distributors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80760" y="1481328"/>
            <a:ext cx="2651760" cy="1115568"/>
          </a:xfrm>
          <a:prstGeom prst="rect">
            <a:avLst/>
          </a:prstGeom>
          <a:solidFill>
            <a:srgbClr val="162032"/>
          </a:solidFill>
          <a:ln w="12700">
            <a:solidFill>
              <a:srgbClr val="1E2E45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0760" y="1481328"/>
            <a:ext cx="45720" cy="1115568"/>
          </a:xfrm>
          <a:prstGeom prst="rect">
            <a:avLst/>
          </a:prstGeom>
          <a:solidFill>
            <a:srgbClr val="00C6A7"/>
          </a:solidFill>
          <a:ln w="12700">
            <a:solidFill>
              <a:srgbClr val="00C6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45352" y="1609344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1.85×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245352" y="2084832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00C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TURNOVER RATIO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245352" y="2304288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moved per month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11480" y="2724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STATUS DISTRIBUTION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2944368"/>
            <a:ext cx="4114800" cy="5486"/>
          </a:xfrm>
          <a:prstGeom prst="rect">
            <a:avLst/>
          </a:prstGeom>
          <a:solidFill>
            <a:srgbClr val="1E2E45"/>
          </a:solidFill>
          <a:ln w="12700">
            <a:solidFill>
              <a:srgbClr val="1E2E45"/>
            </a:solidFill>
            <a:prstDash val="solid"/>
          </a:ln>
        </p:spPr>
      </p:sp>
      <p:graphicFrame>
        <p:nvGraphicFramePr>
          <p:cNvPr id="27" name="Chart 0"/>
          <p:cNvGraphicFramePr/>
          <p:nvPr/>
        </p:nvGraphicFramePr>
        <p:xfrm>
          <a:off x="411480" y="3017520"/>
          <a:ext cx="4114800" cy="160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" name="Text 25"/>
          <p:cNvSpPr/>
          <p:nvPr/>
        </p:nvSpPr>
        <p:spPr>
          <a:xfrm>
            <a:off x="4754880" y="272491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BY CATEGORY (Top 4)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754880" y="2944368"/>
            <a:ext cx="4023360" cy="5486"/>
          </a:xfrm>
          <a:prstGeom prst="rect">
            <a:avLst/>
          </a:prstGeom>
          <a:solidFill>
            <a:srgbClr val="1E2E45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54880" y="309067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DEO &amp; FRAGRANCE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6537960" y="3127248"/>
            <a:ext cx="1645920" cy="128016"/>
          </a:xfrm>
          <a:prstGeom prst="rect">
            <a:avLst/>
          </a:prstGeom>
          <a:solidFill>
            <a:srgbClr val="162032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537960" y="3127248"/>
            <a:ext cx="1645920" cy="128016"/>
          </a:xfrm>
          <a:prstGeom prst="rect">
            <a:avLst/>
          </a:prstGeom>
          <a:solidFill>
            <a:srgbClr val="00C6A7"/>
          </a:solidFill>
          <a:ln w="12700">
            <a:solidFill>
              <a:srgbClr val="00C6A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229600" y="30906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₹1211L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754880" y="34747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SHOWER GEL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6537960" y="3511296"/>
            <a:ext cx="1645920" cy="128016"/>
          </a:xfrm>
          <a:prstGeom prst="rect">
            <a:avLst/>
          </a:prstGeom>
          <a:solidFill>
            <a:srgbClr val="162032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537960" y="3511296"/>
            <a:ext cx="1056053" cy="128016"/>
          </a:xfrm>
          <a:prstGeom prst="rect">
            <a:avLst/>
          </a:prstGeom>
          <a:solidFill>
            <a:srgbClr val="5DD9C5"/>
          </a:solidFill>
          <a:ln w="12700">
            <a:solidFill>
              <a:srgbClr val="5DD9C5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229600" y="34747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₹777L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4754880" y="38587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WASH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6537960" y="3895344"/>
            <a:ext cx="1645920" cy="128016"/>
          </a:xfrm>
          <a:prstGeom prst="rect">
            <a:avLst/>
          </a:prstGeom>
          <a:solidFill>
            <a:srgbClr val="162032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537960" y="3895344"/>
            <a:ext cx="960913" cy="12801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229600" y="38587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₹707L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4754880" y="424281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ANTISEPTIC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6537960" y="4279392"/>
            <a:ext cx="1645920" cy="128016"/>
          </a:xfrm>
          <a:prstGeom prst="rect">
            <a:avLst/>
          </a:prstGeom>
          <a:solidFill>
            <a:srgbClr val="162032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537960" y="4279392"/>
            <a:ext cx="644233" cy="128016"/>
          </a:xfrm>
          <a:prstGeom prst="rect">
            <a:avLst/>
          </a:prstGeom>
          <a:solidFill>
            <a:srgbClr val="D4891A"/>
          </a:solidFill>
          <a:ln w="12700">
            <a:solidFill>
              <a:srgbClr val="D4891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229600" y="424281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₹474L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4754880" y="4608576"/>
            <a:ext cx="4023360" cy="5486"/>
          </a:xfrm>
          <a:prstGeom prst="rect">
            <a:avLst/>
          </a:prstGeom>
          <a:solidFill>
            <a:srgbClr val="E84C6E"/>
          </a:solidFill>
          <a:ln w="12700">
            <a:solidFill>
              <a:srgbClr val="E84C6E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754880" y="464515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4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Damage: ₹64.4L   ·   Expiry Write-off: ₹26.2L   →   Total waste: ₹90.6L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4928616"/>
            <a:ext cx="8321040" cy="4572"/>
          </a:xfrm>
          <a:prstGeom prst="rect">
            <a:avLst/>
          </a:prstGeom>
          <a:solidFill>
            <a:srgbClr val="1E2E45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946904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 Detailing Dashboard  |  CP1 Viva Presentation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292608"/>
            <a:ext cx="73152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2468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RECOMMENDATIONS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530352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Findings from Dashboard Analysis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412480" y="2468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" y="1481328"/>
            <a:ext cx="4023360" cy="987552"/>
          </a:xfrm>
          <a:prstGeom prst="rect">
            <a:avLst/>
          </a:prstGeom>
          <a:solidFill>
            <a:srgbClr val="162032"/>
          </a:solidFill>
          <a:ln w="12700">
            <a:solidFill>
              <a:srgbClr val="E84C6E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1481328"/>
            <a:ext cx="45720" cy="987552"/>
          </a:xfrm>
          <a:prstGeom prst="rect">
            <a:avLst/>
          </a:prstGeom>
          <a:solidFill>
            <a:srgbClr val="E84C6E"/>
          </a:solidFill>
          <a:ln w="12700">
            <a:solidFill>
              <a:srgbClr val="E84C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153619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4C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15361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Gap Requires Attention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6072" y="182880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 is 83.9% (₹6.88Cr vs ₹8.20Cr). FY2025 dipped to 81.4% from 86.9% in FY2024.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2578608"/>
            <a:ext cx="4023360" cy="987552"/>
          </a:xfrm>
          <a:prstGeom prst="rect">
            <a:avLst/>
          </a:prstGeom>
          <a:solidFill>
            <a:srgbClr val="162032"/>
          </a:solidFill>
          <a:ln w="12700">
            <a:solidFill>
              <a:srgbClr val="00C6A7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2578608"/>
            <a:ext cx="45720" cy="987552"/>
          </a:xfrm>
          <a:prstGeom prst="rect">
            <a:avLst/>
          </a:prstGeom>
          <a:solidFill>
            <a:srgbClr val="00C6A7"/>
          </a:solidFill>
          <a:ln w="12700">
            <a:solidFill>
              <a:srgbClr val="00C6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263347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6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26334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Zone is the Revenue Engine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6072" y="292608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33.9% of total revenue. Expanding coverage routes here offers highest ROI.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3675888"/>
            <a:ext cx="4023360" cy="987552"/>
          </a:xfrm>
          <a:prstGeom prst="rect">
            <a:avLst/>
          </a:prstGeom>
          <a:solidFill>
            <a:srgbClr val="162032"/>
          </a:solidFill>
          <a:ln w="12700">
            <a:solidFill>
              <a:srgbClr val="F5A623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3675888"/>
            <a:ext cx="45720" cy="9875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" y="373075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0120" y="37307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Deo &amp; Fragrance Leads at 24.7%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76072" y="402336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with Hand Wash or Shower Gel to drive cross-sell and increase basket size.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1481328"/>
            <a:ext cx="4023360" cy="987552"/>
          </a:xfrm>
          <a:prstGeom prst="rect">
            <a:avLst/>
          </a:prstGeom>
          <a:solidFill>
            <a:srgbClr val="162032"/>
          </a:solidFill>
          <a:ln w="12700">
            <a:solidFill>
              <a:srgbClr val="E84C6E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1481328"/>
            <a:ext cx="45720" cy="987552"/>
          </a:xfrm>
          <a:prstGeom prst="rect">
            <a:avLst/>
          </a:prstGeom>
          <a:solidFill>
            <a:srgbClr val="E84C6E"/>
          </a:solidFill>
          <a:ln w="12700">
            <a:solidFill>
              <a:srgbClr val="E84C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153619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4C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257800" y="15361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Waste: ₹90.6L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73752" y="182880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₹64.4L damage + ₹26.2L expiry. Better demand forecasting can cut this significantly.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09160" y="2578608"/>
            <a:ext cx="4023360" cy="987552"/>
          </a:xfrm>
          <a:prstGeom prst="rect">
            <a:avLst/>
          </a:prstGeom>
          <a:solidFill>
            <a:srgbClr val="162032"/>
          </a:solidFill>
          <a:ln w="12700">
            <a:solidFill>
              <a:srgbClr val="F5A623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2578608"/>
            <a:ext cx="45720" cy="9875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73752" y="263347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257800" y="26334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16.7% Cancellation Rate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73752" y="292608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3,265 orders cancelled. Investigate credit, delivery, and pricing issues to recover revenue.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09160" y="3675888"/>
            <a:ext cx="4023360" cy="987552"/>
          </a:xfrm>
          <a:prstGeom prst="rect">
            <a:avLst/>
          </a:prstGeom>
          <a:solidFill>
            <a:srgbClr val="162032"/>
          </a:solidFill>
          <a:ln w="12700">
            <a:solidFill>
              <a:srgbClr val="00C6A7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3675888"/>
            <a:ext cx="45720" cy="987552"/>
          </a:xfrm>
          <a:prstGeom prst="rect">
            <a:avLst/>
          </a:prstGeom>
          <a:solidFill>
            <a:srgbClr val="00C6A7"/>
          </a:solidFill>
          <a:ln w="12700">
            <a:solidFill>
              <a:srgbClr val="00C6A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73752" y="373075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6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257800" y="37307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Growth Opportunity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73752" y="402336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 revenue share with lower credit &amp; shorter tenure. Targeted support can unlock potential.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C6A7"/>
          </a:solidFill>
          <a:ln w="12700">
            <a:solidFill>
              <a:srgbClr val="00C6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731520"/>
            <a:ext cx="3200400" cy="365760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731520"/>
            <a:ext cx="3200400" cy="50292"/>
          </a:xfrm>
          <a:prstGeom prst="rect">
            <a:avLst/>
          </a:prstGeom>
          <a:solidFill>
            <a:srgbClr val="00C6A7"/>
          </a:solidFill>
          <a:ln w="12700">
            <a:solidFill>
              <a:srgbClr val="00C6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57200" y="193852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0C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 Detailing Dashboard  ·  CP1 Viva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answer your questions.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26480" y="100584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0C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STATS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126480" y="1243584"/>
            <a:ext cx="2834640" cy="5486"/>
          </a:xfrm>
          <a:prstGeom prst="rect">
            <a:avLst/>
          </a:prstGeom>
          <a:solidFill>
            <a:srgbClr val="1E2E45"/>
          </a:solidFill>
          <a:ln w="12700">
            <a:solidFill>
              <a:srgbClr val="1E2E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371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₹6.88 Cr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52360" y="142646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Net Sales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126480" y="1865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83.9%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52360" y="192024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Achievement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126480" y="23591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22.1%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452360" y="241401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Gross Margin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126480" y="285292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52360" y="290779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Distributors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126480" y="334670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19,528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452360" y="340156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Analysed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126480" y="38404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₹48.8 Cr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452360" y="389534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Value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491947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Raw_Sales_Revenue.csv &amp; Raw_Inventory.csv  |  CP1 Viva 2024-25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1107</Words>
  <Application>Microsoft Office PowerPoint</Application>
  <PresentationFormat>On-screen Show (16:9)</PresentationFormat>
  <Paragraphs>274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Distributor Detailing Dashboard – CP1 Viva</dc:title>
  <dc:subject>PptxGenJS Presentation</dc:subject>
  <dc:creator>PptxGenJS</dc:creator>
  <cp:lastModifiedBy>rokesh kannan</cp:lastModifiedBy>
  <cp:revision>3</cp:revision>
  <dcterms:created xsi:type="dcterms:W3CDTF">2026-06-07T17:41:11Z</dcterms:created>
  <dcterms:modified xsi:type="dcterms:W3CDTF">2026-06-07T18:21:58Z</dcterms:modified>
</cp:coreProperties>
</file>